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75" d="100"/>
          <a:sy n="75" d="100"/>
        </p:scale>
        <p:origin x="456" y="6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Forage\BCG%20X\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Forage\BCG%20X\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Forage\BCG%20X\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[Campaign_Data_Week1.xlsx]Slicer!PivotTable2</c:name>
    <c:fmtId val="13"/>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circle"/>
          <c:size val="6"/>
          <c:spPr>
            <a:gradFill rotWithShape="1">
              <a:gsLst>
                <a:gs pos="0">
                  <a:schemeClr val="accent1">
                    <a:shade val="65000"/>
                    <a:satMod val="103000"/>
                    <a:lumMod val="102000"/>
                    <a:tint val="94000"/>
                  </a:schemeClr>
                </a:gs>
                <a:gs pos="50000">
                  <a:schemeClr val="accent1">
                    <a:shade val="65000"/>
                    <a:satMod val="110000"/>
                    <a:lumMod val="100000"/>
                    <a:shade val="100000"/>
                  </a:schemeClr>
                </a:gs>
                <a:gs pos="100000">
                  <a:schemeClr val="accent1">
                    <a:shade val="65000"/>
                    <a:lumMod val="99000"/>
                    <a:satMod val="120000"/>
                    <a:shade val="78000"/>
                  </a:schemeClr>
                </a:gs>
              </a:gsLst>
              <a:lin ang="5400000" scaled="0"/>
            </a:gradFill>
            <a:ln w="9525">
              <a:solidFill>
                <a:schemeClr val="accent1">
                  <a:shade val="65000"/>
                </a:schemeClr>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9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circle"/>
          <c:size val="6"/>
          <c:spPr>
            <a:gradFill rotWithShape="1">
              <a:gsLst>
                <a:gs pos="0">
                  <a:schemeClr val="accent1">
                    <a:tint val="65000"/>
                    <a:satMod val="103000"/>
                    <a:lumMod val="102000"/>
                    <a:tint val="94000"/>
                  </a:schemeClr>
                </a:gs>
                <a:gs pos="50000">
                  <a:schemeClr val="accent1">
                    <a:tint val="65000"/>
                    <a:satMod val="110000"/>
                    <a:lumMod val="100000"/>
                    <a:shade val="100000"/>
                  </a:schemeClr>
                </a:gs>
                <a:gs pos="100000">
                  <a:schemeClr val="accent1">
                    <a:tint val="65000"/>
                    <a:lumMod val="99000"/>
                    <a:satMod val="120000"/>
                    <a:shade val="78000"/>
                  </a:schemeClr>
                </a:gs>
              </a:gsLst>
              <a:lin ang="5400000" scaled="0"/>
            </a:gradFill>
            <a:ln w="9525">
              <a:solidFill>
                <a:schemeClr val="accent1">
                  <a:tint val="65000"/>
                </a:schemeClr>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hade val="65000"/>
                  <a:satMod val="103000"/>
                  <a:lumMod val="102000"/>
                  <a:tint val="94000"/>
                </a:schemeClr>
              </a:gs>
              <a:gs pos="50000">
                <a:schemeClr val="accent1">
                  <a:shade val="65000"/>
                  <a:satMod val="110000"/>
                  <a:lumMod val="100000"/>
                  <a:shade val="100000"/>
                </a:schemeClr>
              </a:gs>
              <a:gs pos="100000">
                <a:schemeClr val="accent1">
                  <a:shade val="65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9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90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7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Slicer!$B$3:$B$4</c:f>
              <c:strCache>
                <c:ptCount val="1"/>
                <c:pt idx="0">
                  <c:v>Email</c:v>
                </c:pt>
              </c:strCache>
            </c:strRef>
          </c:tx>
          <c:spPr>
            <a:gradFill rotWithShape="1">
              <a:gsLst>
                <a:gs pos="0">
                  <a:schemeClr val="accent1">
                    <a:shade val="65000"/>
                    <a:satMod val="103000"/>
                    <a:lumMod val="102000"/>
                    <a:tint val="94000"/>
                  </a:schemeClr>
                </a:gs>
                <a:gs pos="50000">
                  <a:schemeClr val="accent1">
                    <a:shade val="65000"/>
                    <a:satMod val="110000"/>
                    <a:lumMod val="100000"/>
                    <a:shade val="100000"/>
                  </a:schemeClr>
                </a:gs>
                <a:gs pos="100000">
                  <a:schemeClr val="accent1">
                    <a:shade val="65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9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Slicer!$A$5:$A$7</c:f>
              <c:strCache>
                <c:ptCount val="2"/>
                <c:pt idx="0">
                  <c:v>A</c:v>
                </c:pt>
                <c:pt idx="1">
                  <c:v>B</c:v>
                </c:pt>
              </c:strCache>
            </c:strRef>
          </c:cat>
          <c:val>
            <c:numRef>
              <c:f>Slicer!$B$5:$B$7</c:f>
              <c:numCache>
                <c:formatCode>_-[$$-409]* #,##0.00_ ;_-[$$-409]* \-#,##0.00\ ;_-[$$-409]* "-"??_ ;_-@_ </c:formatCode>
                <c:ptCount val="2"/>
                <c:pt idx="0">
                  <c:v>2124.4700000000003</c:v>
                </c:pt>
                <c:pt idx="1">
                  <c:v>1382.3799999999999</c:v>
                </c:pt>
              </c:numCache>
            </c:numRef>
          </c:val>
          <c:extLst>
            <c:ext xmlns:c16="http://schemas.microsoft.com/office/drawing/2014/chart" uri="{C3380CC4-5D6E-409C-BE32-E72D297353CC}">
              <c16:uniqueId val="{00000000-8289-41C6-9A03-681A534BF9B7}"/>
            </c:ext>
          </c:extLst>
        </c:ser>
        <c:ser>
          <c:idx val="1"/>
          <c:order val="1"/>
          <c:tx>
            <c:strRef>
              <c:f>Slicer!$C$3:$C$4</c:f>
              <c:strCache>
                <c:ptCount val="1"/>
                <c:pt idx="0">
                  <c:v>Instagram</c:v>
                </c:pt>
              </c:strCache>
            </c:strRef>
          </c:tx>
          <c:spPr>
            <a:solidFill>
              <a:schemeClr val="accent1">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Slicer!$A$5:$A$7</c:f>
              <c:strCache>
                <c:ptCount val="2"/>
                <c:pt idx="0">
                  <c:v>A</c:v>
                </c:pt>
                <c:pt idx="1">
                  <c:v>B</c:v>
                </c:pt>
              </c:strCache>
            </c:strRef>
          </c:cat>
          <c:val>
            <c:numRef>
              <c:f>Slicer!$C$5:$C$7</c:f>
              <c:numCache>
                <c:formatCode>_-[$$-409]* #,##0.00_ ;_-[$$-409]* \-#,##0.00\ ;_-[$$-409]* "-"??_ ;_-@_ </c:formatCode>
                <c:ptCount val="2"/>
                <c:pt idx="0">
                  <c:v>969.46</c:v>
                </c:pt>
                <c:pt idx="1">
                  <c:v>416.14</c:v>
                </c:pt>
              </c:numCache>
            </c:numRef>
          </c:val>
          <c:extLst>
            <c:ext xmlns:c16="http://schemas.microsoft.com/office/drawing/2014/chart" uri="{C3380CC4-5D6E-409C-BE32-E72D297353CC}">
              <c16:uniqueId val="{00000003-8289-41C6-9A03-681A534BF9B7}"/>
            </c:ext>
          </c:extLst>
        </c:ser>
        <c:ser>
          <c:idx val="2"/>
          <c:order val="2"/>
          <c:tx>
            <c:strRef>
              <c:f>Slicer!$D$3:$D$4</c:f>
              <c:strCache>
                <c:ptCount val="1"/>
                <c:pt idx="0">
                  <c:v>Web Banner</c:v>
                </c:pt>
              </c:strCache>
            </c:strRef>
          </c:tx>
          <c:spPr>
            <a:solidFill>
              <a:schemeClr val="accent1">
                <a:tint val="65000"/>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Slicer!$A$5:$A$7</c:f>
              <c:strCache>
                <c:ptCount val="2"/>
                <c:pt idx="0">
                  <c:v>A</c:v>
                </c:pt>
                <c:pt idx="1">
                  <c:v>B</c:v>
                </c:pt>
              </c:strCache>
            </c:strRef>
          </c:cat>
          <c:val>
            <c:numRef>
              <c:f>Slicer!$D$5:$D$7</c:f>
              <c:numCache>
                <c:formatCode>_-[$$-409]* #,##0.00_ ;_-[$$-409]* \-#,##0.00\ ;_-[$$-409]* "-"??_ ;_-@_ </c:formatCode>
                <c:ptCount val="2"/>
                <c:pt idx="0">
                  <c:v>633.06000000000006</c:v>
                </c:pt>
                <c:pt idx="1">
                  <c:v>318.92000000000007</c:v>
                </c:pt>
              </c:numCache>
            </c:numRef>
          </c:val>
          <c:extLst>
            <c:ext xmlns:c16="http://schemas.microsoft.com/office/drawing/2014/chart" uri="{C3380CC4-5D6E-409C-BE32-E72D297353CC}">
              <c16:uniqueId val="{00000004-8289-41C6-9A03-681A534BF9B7}"/>
            </c:ext>
          </c:extLst>
        </c:ser>
        <c:dLbls>
          <c:dLblPos val="ctr"/>
          <c:showLegendKey val="0"/>
          <c:showVal val="1"/>
          <c:showCatName val="0"/>
          <c:showSerName val="0"/>
          <c:showPercent val="0"/>
          <c:showBubbleSize val="0"/>
        </c:dLbls>
        <c:gapWidth val="150"/>
        <c:overlap val="100"/>
        <c:axId val="1405164464"/>
        <c:axId val="996984688"/>
      </c:barChart>
      <c:catAx>
        <c:axId val="140516446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984688"/>
        <c:crosses val="autoZero"/>
        <c:auto val="1"/>
        <c:lblAlgn val="ctr"/>
        <c:lblOffset val="100"/>
        <c:noMultiLvlLbl val="0"/>
      </c:catAx>
      <c:valAx>
        <c:axId val="996984688"/>
        <c:scaling>
          <c:orientation val="minMax"/>
        </c:scaling>
        <c:delete val="0"/>
        <c:axPos val="l"/>
        <c:majorGridlines>
          <c:spPr>
            <a:ln w="9525" cap="flat" cmpd="sng" algn="ctr">
              <a:solidFill>
                <a:schemeClr val="tx1">
                  <a:lumMod val="15000"/>
                  <a:lumOff val="85000"/>
                </a:schemeClr>
              </a:solidFill>
              <a:round/>
            </a:ln>
            <a:effectLst/>
          </c:spPr>
        </c:majorGridlines>
        <c:numFmt formatCode="[$$-C09]#,##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51644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[Campaign_Data_Week1.xlsx]Channel!PivotTable1</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Channel!$A$4:$A$7</c:f>
              <c:strCache>
                <c:ptCount val="3"/>
                <c:pt idx="0">
                  <c:v>Email</c:v>
                </c:pt>
                <c:pt idx="1">
                  <c:v>Instagram</c:v>
                </c:pt>
                <c:pt idx="2">
                  <c:v>Web Banner</c:v>
                </c:pt>
              </c:strCache>
            </c:strRef>
          </c:cat>
          <c:val>
            <c:numRef>
              <c:f>Channel!$B$4:$B$7</c:f>
              <c:numCache>
                <c:formatCode>"$"#,##0.00</c:formatCode>
                <c:ptCount val="3"/>
                <c:pt idx="0">
                  <c:v>7909.3100000000049</c:v>
                </c:pt>
                <c:pt idx="1">
                  <c:v>3873.4100000000003</c:v>
                </c:pt>
                <c:pt idx="2">
                  <c:v>2876.8800000000006</c:v>
                </c:pt>
              </c:numCache>
            </c:numRef>
          </c:val>
          <c:extLst>
            <c:ext xmlns:c16="http://schemas.microsoft.com/office/drawing/2014/chart" uri="{C3380CC4-5D6E-409C-BE32-E72D297353CC}">
              <c16:uniqueId val="{00000000-8620-4270-8AEC-C1660ADD87EC}"/>
            </c:ext>
          </c:extLst>
        </c:ser>
        <c:dLbls>
          <c:showLegendKey val="0"/>
          <c:showVal val="0"/>
          <c:showCatName val="0"/>
          <c:showSerName val="0"/>
          <c:showPercent val="0"/>
          <c:showBubbleSize val="0"/>
        </c:dLbls>
        <c:gapWidth val="219"/>
        <c:overlap val="-27"/>
        <c:axId val="1377445488"/>
        <c:axId val="1267496304"/>
      </c:barChart>
      <c:catAx>
        <c:axId val="137744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496304"/>
        <c:crosses val="autoZero"/>
        <c:auto val="1"/>
        <c:lblAlgn val="ctr"/>
        <c:lblOffset val="100"/>
        <c:noMultiLvlLbl val="0"/>
      </c:catAx>
      <c:valAx>
        <c:axId val="1267496304"/>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74454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[Campaign_Data_Week1.xlsx]Campaign!PivotTable3</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Campaign!$B$3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Campaign!$A$4:$A$6</c:f>
              <c:strCache>
                <c:ptCount val="2"/>
                <c:pt idx="0">
                  <c:v>A</c:v>
                </c:pt>
                <c:pt idx="1">
                  <c:v>B</c:v>
                </c:pt>
              </c:strCache>
            </c:strRef>
          </c:cat>
          <c:val>
            <c:numRef>
              <c:f>Campaign!$B$4:$B$6</c:f>
              <c:numCache>
                <c:formatCode>"$"#,##0.00</c:formatCode>
                <c:ptCount val="2"/>
                <c:pt idx="0">
                  <c:v>5869.5600000000031</c:v>
                </c:pt>
                <c:pt idx="1">
                  <c:v>8790.0400000000045</c:v>
                </c:pt>
              </c:numCache>
            </c:numRef>
          </c:val>
          <c:extLst>
            <c:ext xmlns:c16="http://schemas.microsoft.com/office/drawing/2014/chart" uri="{C3380CC4-5D6E-409C-BE32-E72D297353CC}">
              <c16:uniqueId val="{00000000-7780-4C18-B7AD-44BFCC18DEC7}"/>
            </c:ext>
          </c:extLst>
        </c:ser>
        <c:dLbls>
          <c:showLegendKey val="0"/>
          <c:showVal val="0"/>
          <c:showCatName val="0"/>
          <c:showSerName val="0"/>
          <c:showPercent val="0"/>
          <c:showBubbleSize val="0"/>
        </c:dLbls>
        <c:gapWidth val="219"/>
        <c:overlap val="-27"/>
        <c:axId val="1377446416"/>
        <c:axId val="996966448"/>
      </c:barChart>
      <c:catAx>
        <c:axId val="1377446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966448"/>
        <c:crosses val="autoZero"/>
        <c:auto val="1"/>
        <c:lblAlgn val="ctr"/>
        <c:lblOffset val="100"/>
        <c:noMultiLvlLbl val="0"/>
      </c:catAx>
      <c:valAx>
        <c:axId val="996966448"/>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7446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9/11/2026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9/11/2026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Total Sales</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err="1">
                <a:solidFill>
                  <a:srgbClr val="000000"/>
                </a:solidFill>
              </a:rPr>
              <a:t>Recommendation:Campaign</a:t>
            </a:r>
            <a:r>
              <a:rPr lang="en-US" sz="1600" b="1" dirty="0">
                <a:solidFill>
                  <a:srgbClr val="000000"/>
                </a:solidFill>
              </a:rPr>
              <a:t> A with email is the best combo to engage with new customer. However, if we see the sales percentage, campaign A with Instagram is the first recommendation to get more engagement with </a:t>
            </a:r>
            <a:r>
              <a:rPr lang="en-US" sz="1600" b="1">
                <a:solidFill>
                  <a:srgbClr val="000000"/>
                </a:solidFill>
              </a:rPr>
              <a:t>new customer.</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914260"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1600" b="1" i="0" u="none" strike="noStrike" kern="1200" baseline="0">
                <a:solidFill>
                  <a:srgbClr val="575757">
                    <a:lumMod val="65000"/>
                    <a:lumOff val="35000"/>
                  </a:srgbClr>
                </a:solidFill>
                <a:latin typeface="+mn-lt"/>
                <a:ea typeface="+mn-ea"/>
                <a:cs typeface="+mn-cs"/>
              </a:defRPr>
            </a:pPr>
            <a:r>
              <a:rPr lang="en-ID" sz="1200" dirty="0"/>
              <a:t>Total Sales by New customer</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931593" y="172564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1400" b="0" i="0" u="none" strike="noStrike" kern="1200" spc="0" baseline="0">
                <a:solidFill>
                  <a:srgbClr val="575757">
                    <a:lumMod val="65000"/>
                    <a:lumOff val="35000"/>
                  </a:srgbClr>
                </a:solidFill>
                <a:latin typeface="+mn-lt"/>
                <a:ea typeface="+mn-ea"/>
                <a:cs typeface="+mn-cs"/>
              </a:defRPr>
            </a:pPr>
            <a:r>
              <a:rPr lang="en-ID" sz="1200" dirty="0"/>
              <a:t>Total Sales by Channel</a:t>
            </a:r>
          </a:p>
        </p:txBody>
      </p:sp>
      <p:sp>
        <p:nvSpPr>
          <p:cNvPr id="54" name="Rectangle 53">
            <a:extLst>
              <a:ext uri="{FF2B5EF4-FFF2-40B4-BE49-F238E27FC236}">
                <a16:creationId xmlns:a16="http://schemas.microsoft.com/office/drawing/2014/main" id="{AC2F7AF7-DC76-6C1A-0458-2264EDF24BF9}"/>
              </a:ext>
            </a:extLst>
          </p:cNvPr>
          <p:cNvSpPr/>
          <p:nvPr/>
        </p:nvSpPr>
        <p:spPr>
          <a:xfrm>
            <a:off x="9077135"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1400" b="0" i="0" u="none" strike="noStrike" kern="1200" spc="0" baseline="0">
                <a:solidFill>
                  <a:srgbClr val="575757">
                    <a:lumMod val="65000"/>
                    <a:lumOff val="35000"/>
                  </a:srgbClr>
                </a:solidFill>
                <a:latin typeface="+mn-lt"/>
                <a:ea typeface="+mn-ea"/>
                <a:cs typeface="+mn-cs"/>
              </a:defRPr>
            </a:pPr>
            <a:r>
              <a:rPr lang="en-US" sz="1200" dirty="0"/>
              <a:t>Total  Sales by Campaign Type</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7" name="Chart 6">
            <a:extLst>
              <a:ext uri="{FF2B5EF4-FFF2-40B4-BE49-F238E27FC236}">
                <a16:creationId xmlns:a16="http://schemas.microsoft.com/office/drawing/2014/main" id="{030B64C9-E5EF-5B58-7237-1C8C4587F42B}"/>
              </a:ext>
            </a:extLst>
          </p:cNvPr>
          <p:cNvGraphicFramePr>
            <a:graphicFrameLocks/>
          </p:cNvGraphicFramePr>
          <p:nvPr>
            <p:extLst>
              <p:ext uri="{D42A27DB-BD31-4B8C-83A1-F6EECF244321}">
                <p14:modId xmlns:p14="http://schemas.microsoft.com/office/powerpoint/2010/main" val="3263605208"/>
              </p:ext>
            </p:extLst>
          </p:nvPr>
        </p:nvGraphicFramePr>
        <p:xfrm>
          <a:off x="339150" y="2054071"/>
          <a:ext cx="3967649" cy="310732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5126B5A5-CD92-D918-F85F-DC8F3F7D7F0C}"/>
              </a:ext>
            </a:extLst>
          </p:cNvPr>
          <p:cNvGraphicFramePr>
            <a:graphicFrameLocks/>
          </p:cNvGraphicFramePr>
          <p:nvPr>
            <p:extLst>
              <p:ext uri="{D42A27DB-BD31-4B8C-83A1-F6EECF244321}">
                <p14:modId xmlns:p14="http://schemas.microsoft.com/office/powerpoint/2010/main" val="1000930264"/>
              </p:ext>
            </p:extLst>
          </p:nvPr>
        </p:nvGraphicFramePr>
        <p:xfrm>
          <a:off x="4306799" y="2181382"/>
          <a:ext cx="3967649" cy="295101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BF59AF75-7B21-9D6F-8143-62937D46EE40}"/>
              </a:ext>
            </a:extLst>
          </p:cNvPr>
          <p:cNvGraphicFramePr>
            <a:graphicFrameLocks/>
          </p:cNvGraphicFramePr>
          <p:nvPr>
            <p:extLst>
              <p:ext uri="{D42A27DB-BD31-4B8C-83A1-F6EECF244321}">
                <p14:modId xmlns:p14="http://schemas.microsoft.com/office/powerpoint/2010/main" val="4181827530"/>
              </p:ext>
            </p:extLst>
          </p:nvPr>
        </p:nvGraphicFramePr>
        <p:xfrm>
          <a:off x="8428490" y="2054072"/>
          <a:ext cx="3666529" cy="3154928"/>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137</TotalTime>
  <Words>57</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Total Sales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Siti Rukoyah Al Munazalah</cp:lastModifiedBy>
  <cp:revision>9</cp:revision>
  <cp:lastPrinted>2016-04-06T18:59:25Z</cp:lastPrinted>
  <dcterms:created xsi:type="dcterms:W3CDTF">2025-04-28T17:07:03Z</dcterms:created>
  <dcterms:modified xsi:type="dcterms:W3CDTF">2026-09-11T03:57:33Z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